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package/2006/relationships/metadata/thumbnail" Target="docProps/thumbnail.jpeg"/>
  <Relationship Id="rId1" Type="http://schemas.openxmlformats.org/officeDocument/2006/relationships/officeDocument" Target="ppt/presentation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308" r:id="rId3"/>
    <p:sldId id="258" r:id="rId4"/>
    <p:sldId id="305" r:id="rId5"/>
    <p:sldId id="259" r:id="rId6"/>
    <p:sldId id="306" r:id="rId7"/>
    <p:sldId id="318" r:id="rId53"/>
    <p:sldId id="310" r:id="rId45"/>
    <p:sldId id="326" r:id="rId61"/>
    <p:sldId id="319" r:id="rId54"/>
    <p:sldId id="320" r:id="rId55"/>
    <p:sldId id="336" r:id="rId71"/>
    <p:sldId id="311" r:id="rId46"/>
    <p:sldId id="331" r:id="rId66"/>
    <p:sldId id="321" r:id="rId56"/>
    <p:sldId id="332" r:id="rId67"/>
    <p:sldId id="312" r:id="rId47"/>
    <p:sldId id="327" r:id="rId62"/>
    <p:sldId id="269" r:id="rId17"/>
    <p:sldId id="333" r:id="rId68"/>
    <p:sldId id="322" r:id="rId57"/>
    <p:sldId id="313" r:id="rId48"/>
    <p:sldId id="334" r:id="rId69"/>
    <p:sldId id="314" r:id="rId49"/>
    <p:sldId id="328" r:id="rId63"/>
    <p:sldId id="329" r:id="rId64"/>
    <p:sldId id="315" r:id="rId50"/>
    <p:sldId id="330" r:id="rId65"/>
    <p:sldId id="266" r:id="rId14"/>
    <p:sldId id="316" r:id="rId51"/>
    <p:sldId id="335" r:id="rId70"/>
    <p:sldId id="323" r:id="rId58"/>
    <p:sldId id="324" r:id="rId59"/>
    <p:sldId id="325" r:id="rId60"/>
    <p:sldId id="284" r:id="rId33"/>
    <p:sldId id="304" r:id="rId34"/>
  </p:sldIdLst>
  <p:sldSz cx="18288000" cy="10287000"/>
  <p:notesSz cx="6858000" cy="9144000"/>
  <p:embeddedFontLst>
    <p:embeddedFont>
      <p:font typeface="Lexend Deca" panose="020B0604020202020204" charset="0"/>
      <p:regular r:id="rId37"/>
    </p:embeddedFont>
    <p:embeddedFont>
      <p:font typeface="Outfit" panose="020B0604020202020204" charset="0"/>
      <p:regular r:id="rId38"/>
    </p:embeddedFont>
    <p:embeddedFont>
      <p:font typeface="Outfit Bold" panose="020B0604020202020204" charset="0"/>
      <p:regular r:id="rId39"/>
    </p:embeddedFont>
    <p:embeddedFont>
      <p:font typeface="Outfit Semi-Bold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
  
  
  
  <Relationship Id="rId39" Type="http://schemas.openxmlformats.org/officeDocument/2006/relationships/font" Target="fonts/font3.fntdata"/>
  
  <Relationship Id="rId34" Type="http://schemas.openxmlformats.org/officeDocument/2006/relationships/slide" Target="slides/slide33.xml"/>
  <Relationship Id="rId42" Type="http://schemas.openxmlformats.org/officeDocument/2006/relationships/viewProps" Target="viewProps.xml"/>
  <Relationship Id="rId7" Type="http://schemas.openxmlformats.org/officeDocument/2006/relationships/slide" Target="slides/slide6.xml"/>
  
  
  
  
  <Relationship Id="rId41" Type="http://schemas.openxmlformats.org/officeDocument/2006/relationships/presProps" Target="presProps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
  
  
  <Relationship Id="rId37" Type="http://schemas.openxmlformats.org/officeDocument/2006/relationships/font" Target="fonts/font1.fntdata"/>
  <Relationship Id="rId40" Type="http://schemas.openxmlformats.org/officeDocument/2006/relationships/font" Target="fonts/font4.fntdata"/>
  <Relationship Id="rId5" Type="http://schemas.openxmlformats.org/officeDocument/2006/relationships/slide" Target="slides/slide4.xml"/>
  
  
  
  <Relationship Id="rId36" Type="http://schemas.openxmlformats.org/officeDocument/2006/relationships/notesMaster" Target="notesMasters/notesMaster1.xml"/>
  
  
  
  <Relationship Id="rId44" Type="http://schemas.openxmlformats.org/officeDocument/2006/relationships/tableStyles" Target="tableStyles.xml"/>
  <Relationship Id="rId4" Type="http://schemas.openxmlformats.org/officeDocument/2006/relationships/slide" Target="slides/slide3.xml"/>
  
  <Relationship Id="rId14" Type="http://schemas.openxmlformats.org/officeDocument/2006/relationships/slide" Target="slides/slide13.xml"/>
  
  
  
  
  <Relationship Id="rId43" Type="http://schemas.openxmlformats.org/officeDocument/2006/relationships/theme" Target="theme/theme1.xml"/>
  
  <Relationship Id="rId3" Type="http://schemas.openxmlformats.org/officeDocument/2006/relationships/slide" Target="slides/slide2.xml"/>
  
  <Relationship Id="rId17" Type="http://schemas.openxmlformats.org/officeDocument/2006/relationships/slide" Target="slides/slide16.xml"/>
  
  <Relationship Id="rId33" Type="http://schemas.openxmlformats.org/officeDocument/2006/relationships/slide" Target="slides/slide32.xml"/>
  <Relationship Id="rId38" Type="http://schemas.openxmlformats.org/officeDocument/2006/relationships/font" Target="fonts/font2.fntdata"/>
  <Relationship Id="rId45" Type="http://schemas.openxmlformats.org/officeDocument/2006/relationships/slide" Target="slides/slide35.xml"/>
  <Relationship Id="rId46" Type="http://schemas.openxmlformats.org/officeDocument/2006/relationships/slide" Target="slides/slide36.xml"/>
  <Relationship Id="rId47" Type="http://schemas.openxmlformats.org/officeDocument/2006/relationships/slide" Target="slides/slide37.xml"/>
  <Relationship Id="rId48" Type="http://schemas.openxmlformats.org/officeDocument/2006/relationships/slide" Target="slides/slide38.xml"/>
  <Relationship Id="rId49" Type="http://schemas.openxmlformats.org/officeDocument/2006/relationships/slide" Target="slides/slide39.xml"/>
  <Relationship Id="rId50" Type="http://schemas.openxmlformats.org/officeDocument/2006/relationships/slide" Target="slides/slide40.xml"/>
  <Relationship Id="rId51" Type="http://schemas.openxmlformats.org/officeDocument/2006/relationships/slide" Target="slides/slide41.xml"/>
  
  <Relationship Id="rId53" Type="http://schemas.openxmlformats.org/officeDocument/2006/relationships/slide" Target="slides/slide43.xml"/>
  <Relationship Id="rId54" Type="http://schemas.openxmlformats.org/officeDocument/2006/relationships/slide" Target="slides/slide44.xml"/>
  <Relationship Id="rId55" Type="http://schemas.openxmlformats.org/officeDocument/2006/relationships/slide" Target="slides/slide45.xml"/>
  <Relationship Id="rId56" Type="http://schemas.openxmlformats.org/officeDocument/2006/relationships/slide" Target="slides/slide46.xml"/>
  <Relationship Id="rId57" Type="http://schemas.openxmlformats.org/officeDocument/2006/relationships/slide" Target="slides/slide47.xml"/>
  <Relationship Id="rId58" Type="http://schemas.openxmlformats.org/officeDocument/2006/relationships/slide" Target="slides/slide48.xml"/>
  <Relationship Id="rId59" Type="http://schemas.openxmlformats.org/officeDocument/2006/relationships/slide" Target="slides/slide49.xml"/>
  <Relationship Id="rId60" Type="http://schemas.openxmlformats.org/officeDocument/2006/relationships/slide" Target="slides/slide50.xml"/>
  <Relationship Id="rId61" Type="http://schemas.openxmlformats.org/officeDocument/2006/relationships/slide" Target="slides/slide51.xml"/>
  <Relationship Id="rId62" Type="http://schemas.openxmlformats.org/officeDocument/2006/relationships/slide" Target="slides/slide52.xml"/>
  <Relationship Id="rId63" Type="http://schemas.openxmlformats.org/officeDocument/2006/relationships/slide" Target="slides/slide53.xml"/>
  <Relationship Id="rId64" Type="http://schemas.openxmlformats.org/officeDocument/2006/relationships/slide" Target="slides/slide54.xml"/>
  <Relationship Id="rId65" Type="http://schemas.openxmlformats.org/officeDocument/2006/relationships/slide" Target="slides/slide55.xml"/>
  <Relationship Id="rId66" Type="http://schemas.openxmlformats.org/officeDocument/2006/relationships/slide" Target="slides/slide56.xml"/>
  <Relationship Id="rId67" Type="http://schemas.openxmlformats.org/officeDocument/2006/relationships/slide" Target="slides/slide57.xml"/>
  <Relationship Id="rId68" Type="http://schemas.openxmlformats.org/officeDocument/2006/relationships/slide" Target="slides/slide58.xml"/>
  <Relationship Id="rId69" Type="http://schemas.openxmlformats.org/officeDocument/2006/relationships/slide" Target="slides/slide59.xml"/>
  <Relationship Id="rId70" Type="http://schemas.openxmlformats.org/officeDocument/2006/relationships/slide" Target="slides/slide60.xml"/>
  <Relationship Id="rId71" Type="http://schemas.openxmlformats.org/officeDocument/2006/relationships/slide" Target="slides/slide61.xml"/>
</Relationships>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286F0-5D44-442A-89D7-9EA0829990CE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3A928-C791-423D-8AB9-F59BCD590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2.xml"/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2" Type="http://schemas.openxmlformats.org/officeDocument/2006/relationships/slide" Target="../slides/slide4.xml"/>
  <Relationship Id="rId1" Type="http://schemas.openxmlformats.org/officeDocument/2006/relationships/notesMaster" Target="../notesMasters/notesMaster1.xml"/>
</Relationships>

</file>

<file path=ppt/notesSlides/_rels/notesSlide4.xml.rels><?xml version="1.0" encoding="utf-8"?>
<Relationships xmlns="http://schemas.openxmlformats.org/package/2006/relationships">
  <Relationship Id="rId2" Type="http://schemas.openxmlformats.org/officeDocument/2006/relationships/slide" Target="../slides/slide5.xml"/>
  <Relationship Id="rId1" Type="http://schemas.openxmlformats.org/officeDocument/2006/relationships/notesMaster" Target="../notesMasters/notesMaster1.xml"/>
</Relationships>
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F84-7D22-98C9-CD1F-A7E42F91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DC22E-6750-9425-DD7A-AC636AC6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D3774-5C32-3EC6-C8F4-3D5C8AA97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0BA43-88C5-B71E-BEE8-FD5B98A9A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68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FF55-ABA5-6CEB-A629-94C7F2B6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5612-AF3A-DEEE-72B3-F9BE2E61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0146-ABC2-84A6-4A65-19D79D94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53FD3-76F4-08F5-EC8C-0591A54F3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6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3840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8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7" Type="http://schemas.openxmlformats.org/officeDocument/2006/relationships/image" Target="../media/image4.svg"/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7.xml"/>
  <Relationship Id="rId6" Type="http://schemas.openxmlformats.org/officeDocument/2006/relationships/image" Target="../media/image3.png"/>
  <Relationship Id="rId5" Type="http://schemas.openxmlformats.org/officeDocument/2006/relationships/image" Target="../media/image5.png"/>
  <Relationship Id="rId4" Type="http://schemas.openxmlformats.org/officeDocument/2006/relationships/image" Target="../media/image2.svg"/>
</Relationships>

</file>

<file path=ppt/slides/_rels/slide3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7.xml"/>
  <Relationship Id="rId5" Type="http://schemas.openxmlformats.org/officeDocument/2006/relationships/image" Target="../media/image5.png"/>
  <Relationship Id="rId4" Type="http://schemas.openxmlformats.org/officeDocument/2006/relationships/image" Target="../media/image2.svg"/>
</Relationships>

</file>

<file path=ppt/slides/_rels/slide5.xml.rels><?xml version="1.0" encoding="utf-8"?>
<Relationships xmlns="http://schemas.openxmlformats.org/package/2006/relationships">
  <Relationship Id="rId2" Type="http://schemas.openxmlformats.org/officeDocument/2006/relationships/notesSlide" Target="../notesSlides/notesSlide4.xml"/>
  <Relationship Id="rId1" Type="http://schemas.openxmlformats.org/officeDocument/2006/relationships/slideLayout" Target="../slideLayouts/slideLayout7.xml"/>
</Relationships>

</file>

<file path=ppt/slides/_rels/slide6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16.xml.rels><?xml version="1.0" encoding="utf-8"?>
<Relationships xmlns="http://schemas.openxmlformats.org/package/2006/relationships">
  <Relationship Id="rId2" Type="http://schemas.openxmlformats.org/officeDocument/2006/relationships/image" Target="../media/image13.jpeg"/>
  <Relationship Id="rId1" Type="http://schemas.openxmlformats.org/officeDocument/2006/relationships/slideLayout" Target="../slideLayouts/slideLayout7.xml"/>
</Relationships>

</file>

<file path=ppt/slides/_rels/slide32.xml.rels><?xml version="1.0" encoding="utf-8"?>
<Relationships xmlns="http://schemas.openxmlformats.org/package/2006/relationships">
  <Relationship Id="rId3" Type="http://schemas.openxmlformats.org/officeDocument/2006/relationships/image" Target="../media/image53.svg"/>
  <Relationship Id="rId2" Type="http://schemas.openxmlformats.org/officeDocument/2006/relationships/image" Target="../media/image52.png"/>
  <Relationship Id="rId1" Type="http://schemas.openxmlformats.org/officeDocument/2006/relationships/slideLayout" Target="../slideLayouts/slideLayout7.xml"/>
</Relationships>

</file>

<file path=ppt/slides/_rels/slide33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5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6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7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8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9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0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1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6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61.xml.rels><?xml version="1.0" encoding="utf-8"?>
<Relationships xmlns="http://schemas.openxmlformats.org/package/2006/relationships">
  <Relationship Id="rId2" Type="http://schemas.openxmlformats.org/officeDocument/2006/relationships/image" Target="../media/image13.jpeg"/>
  <Relationship Id="rId1" Type="http://schemas.openxmlformats.org/officeDocument/2006/relationships/slideLayout" Target="../slideLayouts/slideLayout7.xml"/>
</Relationships>
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4974F-450E-E84F-2D2D-5CAD1B1D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38212F-8A1F-C683-42C3-2ED69E62A216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DE79C6-8DA5-045F-97EE-CAFCB3462848}"/>
              </a:ext>
            </a:extLst>
          </p:cNvPr>
          <p:cNvGrpSpPr/>
          <p:nvPr/>
        </p:nvGrpSpPr>
        <p:grpSpPr>
          <a:xfrm>
            <a:off x="0" y="2903094"/>
            <a:ext cx="18288000" cy="1110924"/>
            <a:chOff x="0" y="0"/>
            <a:chExt cx="5287621" cy="3212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667A5B-D7FF-A013-10EB-F450131B3004}"/>
                </a:ext>
              </a:extLst>
            </p:cNvPr>
            <p:cNvSpPr/>
            <p:nvPr/>
          </p:nvSpPr>
          <p:spPr>
            <a:xfrm>
              <a:off x="0" y="0"/>
              <a:ext cx="5287621" cy="321202"/>
            </a:xfrm>
            <a:custGeom>
              <a:avLst/>
              <a:gdLst/>
              <a:ahLst/>
              <a:cxnLst/>
              <a:rect l="l" t="t" r="r" b="b"/>
              <a:pathLst>
                <a:path w="5287621" h="321202">
                  <a:moveTo>
                    <a:pt x="0" y="0"/>
                  </a:moveTo>
                  <a:lnTo>
                    <a:pt x="5287621" y="0"/>
                  </a:lnTo>
                  <a:lnTo>
                    <a:pt x="5287621" y="321202"/>
                  </a:lnTo>
                  <a:lnTo>
                    <a:pt x="0" y="321202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FF3DF-A3B0-2635-0B3D-4F8DCBDC4D4F}"/>
                </a:ext>
              </a:extLst>
            </p:cNvPr>
            <p:cNvSpPr txBox="1"/>
            <p:nvPr/>
          </p:nvSpPr>
          <p:spPr>
            <a:xfrm>
              <a:off x="0" y="-19050"/>
              <a:ext cx="5287621" cy="34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5F0C4D2-4ADC-FE03-5D1D-C8F2CBF37931}"/>
              </a:ext>
            </a:extLst>
          </p:cNvPr>
          <p:cNvGrpSpPr/>
          <p:nvPr/>
        </p:nvGrpSpPr>
        <p:grpSpPr>
          <a:xfrm>
            <a:off x="14417256" y="6466736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8D4C75-5BC5-4EBF-CDC3-3930F72EF9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A58E014-A7CE-AA7E-EA6F-085645C70DCD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D627FC7-3986-6DB8-1BC3-25386C03C504}"/>
              </a:ext>
            </a:extLst>
          </p:cNvPr>
          <p:cNvGrpSpPr>
            <a:grpSpLocks noChangeAspect="1"/>
          </p:cNvGrpSpPr>
          <p:nvPr/>
        </p:nvGrpSpPr>
        <p:grpSpPr>
          <a:xfrm>
            <a:off x="14591790" y="6630457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4EF6C1F-21A0-E6AF-4156-710A5B392B99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818A35-F850-8BC4-80EE-7CF068E955D5}"/>
              </a:ext>
            </a:extLst>
          </p:cNvPr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DCA74F-C253-3AC6-D1E9-B620098CF0C7}"/>
              </a:ext>
            </a:extLst>
          </p:cNvPr>
          <p:cNvSpPr txBox="1"/>
          <p:nvPr/>
        </p:nvSpPr>
        <p:spPr>
          <a:xfrm>
            <a:off x="972949" y="4411702"/>
            <a:ext cx="16114333" cy="49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From LLMs to Production Agents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8AEF8C-A0C5-80E0-D64A-98108A7283DA}"/>
              </a:ext>
            </a:extLst>
          </p:cNvPr>
          <p:cNvSpPr txBox="1"/>
          <p:nvPr/>
        </p:nvSpPr>
        <p:spPr>
          <a:xfrm>
            <a:off x="972949" y="2936269"/>
            <a:ext cx="1091124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AI Networking Workshop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23C20A-9466-2408-104C-3B6B7016F2EA}"/>
              </a:ext>
            </a:extLst>
          </p:cNvPr>
          <p:cNvSpPr txBox="1"/>
          <p:nvPr/>
        </p:nvSpPr>
        <p:spPr>
          <a:xfrm>
            <a:off x="10523069" y="7249108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Sif Baksh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4B44BE-AF61-BD2F-EF10-2091C68B7AA5}"/>
              </a:ext>
            </a:extLst>
          </p:cNvPr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Starting Now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570E2D-C862-28C2-8155-7CE35AD6397B}"/>
              </a:ext>
            </a:extLst>
          </p:cNvPr>
          <p:cNvSpPr txBox="1"/>
          <p:nvPr/>
        </p:nvSpPr>
        <p:spPr>
          <a:xfrm>
            <a:off x="10728788" y="8005392"/>
            <a:ext cx="3478918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Network Automation Engineer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9E2BF91-27A9-150F-6C73-340CF2CA5CAF}"/>
              </a:ext>
            </a:extLst>
          </p:cNvPr>
          <p:cNvSpPr/>
          <p:nvPr/>
        </p:nvSpPr>
        <p:spPr>
          <a:xfrm>
            <a:off x="10614594" y="7938718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8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1" y="4479925"/>
            <a:ext cx="55245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AI Networking Workshop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68950"/>
            <a:ext cx="285913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From LLMs to Production Agents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AF79-6D66-69C5-BD51-FDD29B8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B9B130-F8D1-289C-66E6-A64112B01F50}"/>
              </a:ext>
            </a:extLst>
          </p:cNvPr>
          <p:cNvGrpSpPr/>
          <p:nvPr/>
        </p:nvGrpSpPr>
        <p:grpSpPr>
          <a:xfrm>
            <a:off x="2514600" y="3395165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A1FDFE-9ECA-22F9-EC97-F07C8A7982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81B9E1-9036-65F2-9545-BC5B075F26A2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D67538-A61A-EF01-0B7F-70035823EA76}"/>
              </a:ext>
            </a:extLst>
          </p:cNvPr>
          <p:cNvGrpSpPr>
            <a:grpSpLocks noChangeAspect="1"/>
          </p:cNvGrpSpPr>
          <p:nvPr/>
        </p:nvGrpSpPr>
        <p:grpSpPr>
          <a:xfrm>
            <a:off x="2689134" y="3553346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5EA195-CDC4-DEF0-8373-9C04037D769D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8A9EC0EE-EAD3-A223-0B45-40646F8EBC7F}"/>
              </a:ext>
            </a:extLst>
          </p:cNvPr>
          <p:cNvSpPr txBox="1"/>
          <p:nvPr/>
        </p:nvSpPr>
        <p:spPr>
          <a:xfrm>
            <a:off x="2170922" y="6200273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Sif Baksh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CEDB19-32D9-0D0F-5518-777CE3D1067C}"/>
              </a:ext>
            </a:extLst>
          </p:cNvPr>
          <p:cNvSpPr txBox="1"/>
          <p:nvPr/>
        </p:nvSpPr>
        <p:spPr>
          <a:xfrm>
            <a:off x="2170922" y="6867993"/>
            <a:ext cx="3478918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Network Automation Engineer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BD13993-F342-A411-A295-6A7DBFD05D77}"/>
              </a:ext>
            </a:extLst>
          </p:cNvPr>
          <p:cNvSpPr/>
          <p:nvPr/>
        </p:nvSpPr>
        <p:spPr>
          <a:xfrm>
            <a:off x="2170922" y="6831313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564090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bg1"/>
                </a:solidFill>
              </a:rPr>
              <a:t>Abou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pl-PL" dirty="0"/>
              <a:t xml:space="preserve"> </a:t>
            </a:r>
            <a:r>
              <a:rPr lang="en-US" dirty="0">
                <a:solidFill>
                  <a:srgbClr val="00CD8F"/>
                </a:solidFill>
              </a:rPr>
              <a:t>Sif Baksh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442256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Network Automation Engineer specializing in AI-powered network operations. Building production AI agents for network automation using Python, Anthropic Claude, and MCP. Workshop instructor for AI + Networking at Packt ML Summit 2025.</a:t>
            </a:r>
          </a:p>
        </p:txBody>
      </p:sp>
    </p:spTree>
    <p:extLst>
      <p:ext uri="{BB962C8B-B14F-4D97-AF65-F5344CB8AC3E}">
        <p14:creationId xmlns:p14="http://schemas.microsoft.com/office/powerpoint/2010/main" val="228539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023487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085975"/>
            <a:ext cx="656655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828081"/>
            <a:ext cx="5143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184832" y="2628900"/>
            <a:ext cx="8893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8184640" y="3517900"/>
            <a:ext cx="89030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8315132" y="2667000"/>
            <a:ext cx="3514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3050" y="2818130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Welcome &amp; Environment Check</a:t>
            </a:r>
          </a:p>
        </p:txBody>
      </p:sp>
      <p:sp>
        <p:nvSpPr>
          <p:cNvPr id="9" name="AutoShape 9"/>
          <p:cNvSpPr/>
          <p:nvPr/>
        </p:nvSpPr>
        <p:spPr>
          <a:xfrm>
            <a:off x="8184640" y="4445000"/>
            <a:ext cx="89696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8315131" y="3613151"/>
            <a:ext cx="389551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3050" y="4549775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How LLMs Actually Work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84640" y="528956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8315132" y="4540250"/>
            <a:ext cx="3607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3050" y="547054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Hands-On with Ollama (Lab 1)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84832" y="612713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8315132" y="5375919"/>
            <a:ext cx="3895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5132" y="6207770"/>
            <a:ext cx="3730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345" y="8757648"/>
            <a:ext cx="254098" cy="336585"/>
            <a:chOff x="0" y="0"/>
            <a:chExt cx="508203" cy="673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" cy="673227"/>
            </a:xfrm>
            <a:custGeom>
              <a:avLst/>
              <a:gdLst/>
              <a:ahLst/>
              <a:cxnLst/>
              <a:rect l="l" t="t" r="r" b="b"/>
              <a:pathLst>
                <a:path w="508254" h="673227">
                  <a:moveTo>
                    <a:pt x="50825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60168" y="8757648"/>
            <a:ext cx="1031100" cy="336585"/>
            <a:chOff x="0" y="0"/>
            <a:chExt cx="2062201" cy="673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2226" cy="673227"/>
            </a:xfrm>
            <a:custGeom>
              <a:avLst/>
              <a:gdLst/>
              <a:ahLst/>
              <a:cxnLst/>
              <a:rect l="l" t="t" r="r" b="b"/>
              <a:pathLst>
                <a:path w="2062226" h="673227">
                  <a:moveTo>
                    <a:pt x="206222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2062226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276627" y="8757648"/>
            <a:ext cx="954557" cy="336585"/>
            <a:chOff x="0" y="0"/>
            <a:chExt cx="1909115" cy="6731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9064" cy="673227"/>
            </a:xfrm>
            <a:custGeom>
              <a:avLst/>
              <a:gdLst/>
              <a:ahLst/>
              <a:cxnLst/>
              <a:rect l="l" t="t" r="r" b="b"/>
              <a:pathLst>
                <a:path w="1909064" h="673227">
                  <a:moveTo>
                    <a:pt x="190906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643151" y="8757648"/>
            <a:ext cx="253898" cy="336585"/>
            <a:chOff x="0" y="0"/>
            <a:chExt cx="507797" cy="673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7746" cy="673227"/>
            </a:xfrm>
            <a:custGeom>
              <a:avLst/>
              <a:gdLst/>
              <a:ahLst/>
              <a:cxnLst/>
              <a:rect l="l" t="t" r="r" b="b"/>
              <a:pathLst>
                <a:path w="507746" h="673227">
                  <a:moveTo>
                    <a:pt x="50774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7746" y="0"/>
                  </a:lnTo>
                  <a:close/>
                </a:path>
              </a:pathLst>
            </a:custGeom>
            <a:solidFill>
              <a:srgbClr val="57B7F7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4478074" y="8757648"/>
            <a:ext cx="254051" cy="336585"/>
            <a:chOff x="0" y="0"/>
            <a:chExt cx="508102" cy="6731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127" cy="673227"/>
            </a:xfrm>
            <a:custGeom>
              <a:avLst/>
              <a:gdLst/>
              <a:ahLst/>
              <a:cxnLst/>
              <a:rect l="l" t="t" r="r" b="b"/>
              <a:pathLst>
                <a:path w="508127" h="673227">
                  <a:moveTo>
                    <a:pt x="508127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127" y="0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63050" y="633668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Prompt Engineering: P.E.N.E.</a:t>
            </a:r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0" name="Freeform 3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8184640" y="705550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8316671" y="7136139"/>
            <a:ext cx="3696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63050" y="7289492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Prompt Crafting Workshop (Lab 2)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184832" y="801244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Box 37"/>
          <p:cNvSpPr txBox="1"/>
          <p:nvPr/>
        </p:nvSpPr>
        <p:spPr>
          <a:xfrm>
            <a:off x="8319245" y="8093084"/>
            <a:ext cx="3648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3050" y="815532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LLM APIs &amp; Function Calling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0" y="3698875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Model Context Protocol (MCP)</a:t>
            </a:r>
          </a:p>
        </p:txBody>
      </p:sp>
      <p:sp>
        <p:nvSpPr>
          <p:cNvPr id="40" name="AutoShape 36">
            <a:extLst>
              <a:ext uri="{FF2B5EF4-FFF2-40B4-BE49-F238E27FC236}">
                <a16:creationId xmlns:a16="http://schemas.microsoft.com/office/drawing/2014/main" id="{31B3D879-4850-9FDF-60B3-E2A184712956}"/>
              </a:ext>
            </a:extLst>
          </p:cNvPr>
          <p:cNvSpPr/>
          <p:nvPr/>
        </p:nvSpPr>
        <p:spPr>
          <a:xfrm>
            <a:off x="8222932" y="8877300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7218FE36-5549-4B6B-0A30-FE5B13C89AAC}"/>
              </a:ext>
            </a:extLst>
          </p:cNvPr>
          <p:cNvSpPr txBox="1"/>
          <p:nvPr/>
        </p:nvSpPr>
        <p:spPr>
          <a:xfrm>
            <a:off x="8305800" y="8953500"/>
            <a:ext cx="398882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08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3F68A499-B5B5-3810-6992-AAE876A0DB29}"/>
              </a:ext>
            </a:extLst>
          </p:cNvPr>
          <p:cNvSpPr txBox="1"/>
          <p:nvPr/>
        </p:nvSpPr>
        <p:spPr>
          <a:xfrm>
            <a:off x="9149605" y="9015740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Production Deployment &amp; Wrap-Up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0: Welcome &amp; Environment Check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MCP Resources &amp; Prompts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MCP Resources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Read-only data exposed to LLM (network inventory, device configs)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Accessed via URIs: network://devices/inventory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MCP Prompts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Reusable prompt templates pre-built for common network tasks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Parameterized: troubleshoot-bgp, audit-firewall, parse-config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Shared across all MCP clients for consistency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MCP Tools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Actions: ping device, get interface status, run show commands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65383" y="9277350"/>
            <a:ext cx="80939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1974483" y="25811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2562066"/>
            <a:ext cx="9144000" cy="7724934"/>
          </a:xfrm>
          <a:custGeom>
            <a:avLst/>
            <a:gdLst/>
            <a:ahLst/>
            <a:cxnLst/>
            <a:rect l="l" t="t" r="r" b="b"/>
            <a:pathLst>
              <a:path w="9144000" h="7724934">
                <a:moveTo>
                  <a:pt x="0" y="0"/>
                </a:moveTo>
                <a:lnTo>
                  <a:pt x="9144000" y="0"/>
                </a:lnTo>
                <a:lnTo>
                  <a:pt x="9144000" y="7724934"/>
                </a:lnTo>
                <a:lnTo>
                  <a:pt x="0" y="77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12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04305" y="9397048"/>
            <a:ext cx="12000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12691"/>
            <a:ext cx="9000000" cy="832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Bad vs. Good Prompts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305" y="3070225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Bad Prompts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“Analyze this router config” — no persona, no purpose, no format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“Tell me about BGP” — too vague, infinite possible answers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“Fix this network issue” — no context, no constraints, no examples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Result: vague, inconsistent, unhelpful output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05580" y="3070225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Good Prompts (P.E.N.E.)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“You are a senior network architect...” — clear role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Goal: identify single points of failure — specific purpose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Output: JSON list with {component, risk_level, mitigation} — defined format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Result: consistent, actionable, parseable output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2244349" cy="1629958"/>
          </a:xfrm>
          <a:custGeom>
            <a:avLst/>
            <a:gdLst/>
            <a:ahLst/>
            <a:cxnLst/>
            <a:rect l="l" t="t" r="r" b="b"/>
            <a:pathLst>
              <a:path w="2244349" h="1629958">
                <a:moveTo>
                  <a:pt x="0" y="0"/>
                </a:moveTo>
                <a:lnTo>
                  <a:pt x="2244349" y="0"/>
                </a:lnTo>
                <a:lnTo>
                  <a:pt x="2244349" y="1629958"/>
                </a:lnTo>
                <a:lnTo>
                  <a:pt x="0" y="162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4322560"/>
            <a:ext cx="13597623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chemeClr val="bg1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The best network automation isn’t the most complex — it’s the one that actually runs in production.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787765"/>
            <a:ext cx="3310286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 b="1" spc="99" dirty="0">
                <a:solidFill>
                  <a:srgbClr val="FFFFFF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— Workshop Principle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6" name="Freeform 6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EB2C-72B4-2376-B415-1DBB54E4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50BFE9-031E-CA36-023B-637B07AE69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7B70BD-A3C3-8A62-3110-7C1BE7A32E3C}"/>
              </a:ext>
            </a:extLst>
          </p:cNvPr>
          <p:cNvSpPr txBox="1"/>
          <p:nvPr/>
        </p:nvSpPr>
        <p:spPr>
          <a:xfrm>
            <a:off x="1028701" y="4479925"/>
            <a:ext cx="4229099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6230806-A285-7401-5018-2F5698374104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FED85B6-C546-8002-E2CC-108F72D2DE81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1: How LLMs Actually Work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2: Hands-On with Ollama (Lab 1)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3: Prompt Engineering (P.E.N.E.)</a:t>
            </a:r>
          </a:p>
        </p:txBody>
      </p:sp>
      <p:sp>
        <p:nvSpPr>
          <p:cNvPr id="5" name="AutoShape 5">
            <a:extLst>
              <a:ext uri="{FF2B5EF4-FFF2-40B4-BE49-F238E27FC236}">
                <a16:creationId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val="489278735"/>
      </p:ext>
    </p:extLst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4: Lab 2 — Prompt Crafting Workshop</a:t>
            </a:r>
          </a:p>
        </p:txBody>
      </p:sp>
      <p:sp>
        <p:nvSpPr>
          <p:cNvPr id="5" name="AutoShape 5">
            <a:extLst>
              <a:ext uri="{FF2B5EF4-FFF2-40B4-BE49-F238E27FC236}">
                <a16:creationId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val="489278735"/>
      </p:ext>
    </p:extLst>
  </p:cSld>
  <p:clrMapOvr>
    <a:masterClrMapping/>
  </p:clrMapOvr>
</p:sld>
</file>

<file path=ppt/slides/slide39.xml><?xml version="1.0" encoding="utf-8"?>
<p:sld xmlns:a="http://schemas.openxmlformats.org/drawingml/2006/main" xmlns:a16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5: LLM APIs &amp; Function Calling</a:t>
            </a:r>
          </a:p>
        </p:txBody>
      </p:sp>
      <p:sp>
        <p:nvSpPr>
          <p:cNvPr id="5" name="AutoShape 5">
            <a:extLst>
              <a:ext uri="{FF2B5EF4-FFF2-40B4-BE49-F238E27FC236}">
                <a16:creationId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val="489278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8: Model Context Protocol (MCP)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6: Production Deployment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Environment Checklist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Required Software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Python 3.10+ — python --version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— ollama --version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Code editor — VS Code recommended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— for cloning workshop materials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pip install anthropic openai mcp flask streamlit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Tokenization: Text → Numbers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How Tokens Work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LLMs don't see words — they see tokens (sub-word chunks)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"strawberry" → ["straw", "berry"] = 2 tokens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Rule of thumb: 1 token ≈ 0.75 words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Why It Matters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API Costs = input tokens + output tokens (Claude: ~$3/M, GPT-4: ~$5/M)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Context Window: GPT-4 = 128k tokens; Claude 3.5 = 200k tokens — full conversation counts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Generation Parameters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Temperature (0.0 – 2.0)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0.0 — Deterministic: same output every time. Use for config generation &amp; log parsing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0.7–1.0 — Balanced: varied but accurate. Use for documentation &amp; explanations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1.5–2.0 — Creative/Random: can drift off-topic. Rarely useful for network ops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Other Parameters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Top-p: alternative to temperature — samples from top X% of likely tokens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Max Tokens: hard limit on response length — cost tip: only request what you need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1: Getting Started with Ollama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Setup Commands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pull llama3.2:3b — small, fast model (~2GB)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pull llama3.1:8b — larger, smarter model (~4.7GB)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list — verify installation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run llama3.2:3b — start interactive CLI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API endpoint: http://localhost:11434/api/generate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1: Getting Started with Ollama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Setup Commands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pull llama3.2:3b — small, fast model (~2GB)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pull llama3.1:8b — larger, smarter model (~4.7GB)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list — verify installation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run llama3.2:3b — start interactive CLI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API endpoint: http://localhost:11434/api/generate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We Covered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Module 1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Fundamentals — tokenization, context windows, temperature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Module 2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Hands-On with Ollama — local models, CLI, API interaction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Module 3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Prompt Engineering — P.E.N.E. framework, patterns, iteration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Module 5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APIs &amp; Function Calling — tool calling, agent loop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Module 6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MCP — standard protocol for AI tools, build your own server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Core Insights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100% Free with Ollama — no API keys, runs on your laptop, privacy-first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Agents = Code + LLM + Tools — you now understand the full loop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 Simple, Then Scale — mock devices first, production incrementally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Technical Patterns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Calling is Just Structured Prompts — LLM outputs commands, you execute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Pattern Works Everywhere — swap Ollama to Claude to GPT with 1 line of code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Next Steps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Immediate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Run all labs on your own network topology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Customize tools for your environment (real SSH, SNMP, NETCONF)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Short Term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Build a stateful chatbot with memory for your NOC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Deploy an MCP server with your device inventory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Resources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github.com/seefor | docs.anthropic.com | ollama.ai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LLMs: The 10,000 Foot 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What is an LLM?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Large Language Model predicts the next token (word/subword) based on statistical patterns — not true understanding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Great For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Parsing unstructured data, generating configs, summarizing logs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Bad For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Precise calculations, deterministic logic, security-critical decisions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Key Rule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validate LLM outputs before acting on them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2000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110109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The P.E.N.E. Framework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Four Elements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 — Persona and Purpose: who is the AI and what is the goal?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— Examples: show don’t tell — provide input/output pairs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 — kNowledge and coNstraints: context the AI needs and what it should NOT do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— Evaluation and Iteration: test with edge cases, refine based on failures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880100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Four Elements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Specificity beats cleverness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Examples outperform instructions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define output format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Iterate based on real failures — not guesses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7436043" y="56545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2000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110109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LLM APIs: The Basics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How API Calls Work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Authentication: API key identifies your account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Model selection: choose which LLM to use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Messages: pass full conversation history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Parameters: temperature, max_tokens, etc.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Response: text + metadata (tokens used, stop reason)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880100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API Cost Calculation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Claude Sonnet: $3/M input tokens, $15/M output tokens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Example: 2500 input + 300 output = $0.012 per call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At scale: 10k calls/day = ~$120/day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Tip: only request max_tokens you actually need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7436043" y="56545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Function Calling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How It Works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decides which function to call based on user intent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Your code executes the actual function (SSH, API, DB query)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synthesizes the result into a natural language answer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The Agentic Loop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Reason → Act → Observe → Repeat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is the orchestrator, not the executor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Key Rule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validate tool inputs — LLMs can hallucinate parameters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MCP?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Model Context Protocol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Open standard for connecting AI models to tools and data sources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Decouples tool implementation from LLM applications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Key Benefits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Write a tool once — use with Claude Desktop, your chatbot, any MCP client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Growing ecosystem: filesystem, databases, APIs, network devices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Transport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stdio — local subprocess communication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SSE — remote HTTP server communication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2000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87885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Ollama?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Run LLMs Locally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= Docker for LLMs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Download and run models on your laptop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Free and open source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Supports Llama, Mistral, Phi, and more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Why Use Ollama?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Privacy — your data never leaves your machine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Cost — no per-token charges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Speed — no network latency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Development — iterate without API limits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Tradeoffs to Know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Smaller models than cloud APIs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Slower inference without GPU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Text-only (no vision/audio)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Best for dev, privacy-sensitive, air-gapped networks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2000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87885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You Learned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Run local LLMs with Ollama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CLI and API interaction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Model size/quality tradeoffs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Structured JSON output generation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When to Use Ollama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Development and testing — no API costs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Privacy-sensitive — healthcare, finance, government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Air-gapped networks — no internet required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Batch processing — no rate limits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When to Use Cloud APIs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Production — better models, managed infrastructure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Low latency — API inference faster than local CPU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Multimodal tasks — vision, audio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When model quality is critical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Common Prompt Patterns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Transformation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Convert Cisco IOS configs to Arista EOS format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Convert interface output to structured JSON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Generation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Generate VLAN configs for a 3-tier data center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Create firewall rules from policy documents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case: config templating at scale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Validation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Check firewall config against PCI-DSS requirements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Challenge 3: Documentation Generator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Goal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Generate human-readable network documentation from topology data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Input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Topology data: devices, VLANs, links, subnets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Output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Structured markdown documentation with sections for devices, segments, redundancy, and troubleshooting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Time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8 min per challenge + 4 min group share-out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Production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Metrics to Track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Calls/hour, average latency, error rate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Token usage and costs daily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call success/failure rates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Logging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Log all tool calls with timestamps and arguments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Alert on error rate spikes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Never log sensitive data (passwords, credentials)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Cost Management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Monitor token usage — set budget alerts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2000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11336978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For Network Automation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low temperature (0.0–0.3) for configs and structured output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higher temperature (0.7+) for documentation and explanations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manage context windows carefully — every token costs money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Validate all LLM outputs before acting on them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Common Misconceptions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LLMs don't "remember" — your app stores and re-sends history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LLMs don't "understand" networking — they pattern-match training data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Higher temperature ≠ smarter — higher temp = more random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2983</Words>
  <Application>Microsoft Office PowerPoint</Application>
  <PresentationFormat>Custom</PresentationFormat>
  <Paragraphs>496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Outfit Semi-Bold</vt:lpstr>
      <vt:lpstr>Outfit</vt:lpstr>
      <vt:lpstr>Calibri</vt:lpstr>
      <vt:lpstr>Lexend Deca</vt:lpstr>
      <vt:lpstr>Aptos</vt:lpstr>
      <vt:lpstr>Outfit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Manish Nainani</cp:lastModifiedBy>
  <cp:revision>8</cp:revision>
  <dcterms:created xsi:type="dcterms:W3CDTF">2006-08-16T00:00:00Z</dcterms:created>
  <dcterms:modified xsi:type="dcterms:W3CDTF">2025-05-05T09:48:16Z</dcterms:modified>
  <dc:identifier>DAGmMKGe-eA</dc:identifier>
</cp:coreProperties>
</file>